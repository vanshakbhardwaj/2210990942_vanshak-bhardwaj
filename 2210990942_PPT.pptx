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77" r:id="rId7"/>
    <p:sldId id="270" r:id="rId8"/>
    <p:sldId id="269" r:id="rId9"/>
    <p:sldId id="271" r:id="rId10"/>
    <p:sldId id="272" r:id="rId11"/>
    <p:sldId id="278" r:id="rId12"/>
    <p:sldId id="274" r:id="rId13"/>
    <p:sldId id="279" r:id="rId14"/>
    <p:sldId id="276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33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21375"/>
            <a:ext cx="9144000" cy="5717485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IN" sz="2000" b="1" dirty="0">
                <a:latin typeface="Times New Roman"/>
                <a:ea typeface="Calibri"/>
                <a:cs typeface="Times New Roman"/>
              </a:rPr>
            </a:br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  <a:b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r>
              <a:rPr lang="en-US" sz="3200" b="1" dirty="0"/>
              <a:t>Food Waste Prediction Using Machine Learning Models </a:t>
            </a:r>
            <a:br>
              <a:rPr lang="en-US" sz="2800" b="1" dirty="0"/>
            </a:br>
            <a:br>
              <a:rPr lang="en-US" sz="3200" b="1" dirty="0"/>
            </a:br>
            <a:r>
              <a:rPr lang="en-IN" sz="2400" spc="-1" dirty="0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  <a:t>Vanshak Bhardwaj</a:t>
            </a:r>
            <a:endParaRPr lang="en-IN" sz="2400" dirty="0"/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  <a:t>2210990942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  <a:t>Supervised By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r>
              <a:rPr lang="en-IN" sz="2400" dirty="0"/>
              <a:t>Gurpreet Singh </a:t>
            </a:r>
            <a:br>
              <a:rPr lang="en-IN" sz="2400" dirty="0"/>
            </a:br>
            <a:endParaRPr lang="en-US" sz="2400" spc="-1" dirty="0">
              <a:ea typeface="+mn-lt"/>
              <a:cs typeface="+mn-lt"/>
            </a:endParaRPr>
          </a:p>
          <a:p>
            <a:pPr algn="ctr"/>
            <a:r>
              <a:rPr lang="en-US" sz="2800" spc="-1" dirty="0">
                <a:ea typeface="+mn-lt"/>
                <a:cs typeface="+mn-lt"/>
              </a:rPr>
              <a:t>Department of </a:t>
            </a:r>
            <a:r>
              <a:rPr lang="en-US" sz="2800" strike="noStrike" spc="-1" dirty="0">
                <a:ea typeface="+mn-lt"/>
                <a:cs typeface="+mn-lt"/>
              </a:rPr>
              <a:t>Computer Science and Engineering,</a:t>
            </a:r>
            <a:endParaRPr lang="en-US" dirty="0">
              <a:ea typeface="+mn-lt"/>
              <a:cs typeface="+mn-lt"/>
            </a:endParaRPr>
          </a:p>
          <a:p>
            <a:pPr algn="ctr">
              <a:lnSpc>
                <a:spcPct val="100000"/>
              </a:lnSpc>
            </a:pPr>
            <a:r>
              <a:rPr lang="en-US" sz="2800" strike="noStrike" spc="-1" dirty="0">
                <a:ea typeface="+mn-lt"/>
                <a:cs typeface="+mn-lt"/>
              </a:rPr>
              <a:t>Chitkara University, Punjab</a:t>
            </a:r>
            <a:endParaRPr lang="en-US" sz="1600" dirty="0">
              <a:ea typeface="+mn-lt"/>
              <a:cs typeface="+mn-lt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4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Shape 3">
            <a:extLst>
              <a:ext uri="{FF2B5EF4-FFF2-40B4-BE49-F238E27FC236}">
                <a16:creationId xmlns:a16="http://schemas.microsoft.com/office/drawing/2014/main" id="{FC4BF874-C667-410D-4207-4526D7FE34B1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</a:t>
            </a:fld>
            <a:endParaRPr lang="en-GB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-1728408" y="4064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6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41712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endParaRPr lang="en-GB" sz="12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Shape 3">
            <a:extLst>
              <a:ext uri="{FF2B5EF4-FFF2-40B4-BE49-F238E27FC236}">
                <a16:creationId xmlns:a16="http://schemas.microsoft.com/office/drawing/2014/main" id="{28177A5A-D435-42AB-2C91-30E48AB67481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5A8BCC1-9343-4A64-87D1-B37B950CD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49" y="1172711"/>
            <a:ext cx="8317523" cy="4793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food waste exceeds one billion tons annually, with two-thirds of post-consumption waste generated by private households. In India, household waste reaches 78 million tons yearly, averaging about 50kg per individual.</a:t>
            </a:r>
            <a:r>
              <a:rPr kumimoji="0" lang="en-US" altLang="en-US" sz="235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3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Rotting food in landfills accounts for 8% to 10% of human-driven global greenhouse gas emissions. UN SDG 12.3 sets a critical target to halve consumer and retail food waste by 2030. Traditional waste management relies on rough estimates, leading to overproduction and inefficiencies. Machine learning offers a proactive solution by identifying complex consumption patterns over time. This project implements Random Forest and LSTM models to shift operations from reactive guessing to intelligent demand forecasting.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8050-1911-45E0-A48E-3A7DE63C1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/>
              <a:t> The Problem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1E45E2C-C9A7-47AA-A39D-8FADDDB847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39" b="4883"/>
          <a:stretch/>
        </p:blipFill>
        <p:spPr bwMode="auto">
          <a:xfrm>
            <a:off x="184638" y="1270488"/>
            <a:ext cx="8774723" cy="431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0233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82C66-E110-AD4D-E3F4-38A538C98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4" y="40641"/>
            <a:ext cx="5384995" cy="797648"/>
          </a:xfrm>
        </p:spPr>
        <p:txBody>
          <a:bodyPr/>
          <a:lstStyle/>
          <a:p>
            <a:r>
              <a:rPr lang="en-IN" sz="3600" b="1" dirty="0"/>
              <a:t>Datasets and Features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06B36-C0A8-20A0-02B6-35E2DB329A3A}"/>
              </a:ext>
            </a:extLst>
          </p:cNvPr>
          <p:cNvSpPr txBox="1"/>
          <p:nvPr/>
        </p:nvSpPr>
        <p:spPr>
          <a:xfrm>
            <a:off x="288036" y="1337436"/>
            <a:ext cx="8567928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2400" dirty="0"/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Shape 3">
            <a:extLst>
              <a:ext uri="{FF2B5EF4-FFF2-40B4-BE49-F238E27FC236}">
                <a16:creationId xmlns:a16="http://schemas.microsoft.com/office/drawing/2014/main" id="{D874AAA7-21C6-7B0A-85E5-E6300844862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E8F2A92-AFCF-46C7-9158-6AF226319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566292"/>
            <a:ext cx="8930640" cy="4385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Primary Sources: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* Open data (Kaggle Messy Food Waste Dataset).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National/Global reports (FAO, UNEP, JRC).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IoT Sensor data (Load cells for weight, ultrasonic sensors for bin fullness).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Feature Categories: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Temporal: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Weekdays vs. weekends, seasonal transitions, and holidays.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Environmental: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Weather conditions and storage settings.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Operational: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Current inventory levels, serving portions, and batch sizes.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Contextual: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Venue type and customer demographics.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078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12" y="184638"/>
            <a:ext cx="6467267" cy="606670"/>
          </a:xfrm>
        </p:spPr>
        <p:txBody>
          <a:bodyPr/>
          <a:lstStyle/>
          <a:p>
            <a:r>
              <a:rPr lang="en-IN" sz="2800" b="1" dirty="0"/>
              <a:t>Methodology – Algorithm Selection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FCF3FF-74B6-B09F-C99B-4F60020C6886}"/>
              </a:ext>
            </a:extLst>
          </p:cNvPr>
          <p:cNvSpPr txBox="1"/>
          <p:nvPr/>
        </p:nvSpPr>
        <p:spPr>
          <a:xfrm>
            <a:off x="407963" y="1369105"/>
            <a:ext cx="8650224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2000" b="1" dirty="0"/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3">
            <a:extLst>
              <a:ext uri="{FF2B5EF4-FFF2-40B4-BE49-F238E27FC236}">
                <a16:creationId xmlns:a16="http://schemas.microsoft.com/office/drawing/2014/main" id="{DDE02437-8FB8-27A0-1006-2FE1488EFA02}"/>
              </a:ext>
            </a:extLst>
          </p:cNvPr>
          <p:cNvSpPr txBox="1"/>
          <p:nvPr/>
        </p:nvSpPr>
        <p:spPr>
          <a:xfrm>
            <a:off x="6553080" y="636566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5DC80E6-3237-4B5B-BF48-03B1888A5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903" y="1369105"/>
            <a:ext cx="8924193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Random Forest: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Stands out for ranking input features and handling noisy logistics data stably.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LSTM (Long Short-Term Memory):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Used to track long-term temporal dependencies and trends in waste generation over time.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CNN (Convolutional Neural Networks):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Implemented for visual recognition to detect food spoilage through images.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Hybrid Systems: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Combining IoT sensor readings (temperature, moisture, gas) with machine learning for early decay detection.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233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3EA8E-DE8E-612A-019A-5CA8DAF84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C277-27D6-B3BC-F3D6-B6EEBA7B1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" y="0"/>
            <a:ext cx="6400800" cy="914040"/>
          </a:xfrm>
        </p:spPr>
        <p:txBody>
          <a:bodyPr/>
          <a:lstStyle/>
          <a:p>
            <a:r>
              <a:rPr lang="en-IN" sz="3200" b="1" dirty="0"/>
              <a:t>Performance and Results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B0CC3EC-156E-4083-DA9A-266D4A954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72" y="2627001"/>
            <a:ext cx="890625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buFont typeface="Arial"/>
              <a:buChar char="•"/>
            </a:pPr>
            <a:endParaRPr lang="en-US" sz="2000" dirty="0">
              <a:cs typeface="Arial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B4544B03-3619-0E4A-9940-F14A62F2244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6C3ABD-116E-090A-73F8-BBB5C405D100}"/>
              </a:ext>
            </a:extLst>
          </p:cNvPr>
          <p:cNvSpPr txBox="1"/>
          <p:nvPr/>
        </p:nvSpPr>
        <p:spPr>
          <a:xfrm>
            <a:off x="559022" y="1786720"/>
            <a:ext cx="80259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• </a:t>
            </a:r>
            <a:endParaRPr lang="en-US" sz="2800" dirty="0"/>
          </a:p>
          <a:p>
            <a:pPr algn="l"/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F4E6306-B4D7-4C00-AB9D-3EEEC8923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01" y="1374591"/>
            <a:ext cx="9018798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Predictive Accuracy: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Random Forest and LSTM models have yielded precision scores over 90%.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Waste Reduction: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Implementations show a decrease in waste ranging from 14% to 52%.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Smart Bins: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AI-integrated containers hit approximately 93% accuracy in sorting or predicting overflow.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Manufacturing/Retail: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Systems forecasting garbage volume in these sectors reach up to 92% precision.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650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70E5B-1ADD-5AEF-85E1-05DFD898B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3">
            <a:extLst>
              <a:ext uri="{FF2B5EF4-FFF2-40B4-BE49-F238E27FC236}">
                <a16:creationId xmlns:a16="http://schemas.microsoft.com/office/drawing/2014/main" id="{F9DD2446-D230-C6C8-16CF-00D9F679A5A4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C5845C-262C-CDBF-02E7-6BCE0A9D2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/>
              <a:t> Challenges and Limitations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C86FEE1-8220-4A32-BDD4-9EBA559626A4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23031" y="1166842"/>
            <a:ext cx="889793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Scarcity: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Collecting precise household waste records in specific regions of India is currently difficult.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Opacity: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Highly accurate deep-learning models often act as "black boxes," making it hard to understand specific predictions.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 Barriers: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Modern IoT sensors can be expensive and unaffordable for small restaurants or rural areas.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Cultural Factors: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One-size-fits-all models struggle with regional eating habits and cultural differences in India.</a:t>
            </a:r>
          </a:p>
        </p:txBody>
      </p:sp>
    </p:spTree>
    <p:extLst>
      <p:ext uri="{BB962C8B-B14F-4D97-AF65-F5344CB8AC3E}">
        <p14:creationId xmlns:p14="http://schemas.microsoft.com/office/powerpoint/2010/main" val="2475813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D3644-9BC8-4D48-89C3-946F87D4B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46" y="70338"/>
            <a:ext cx="5486040" cy="914040"/>
          </a:xfrm>
        </p:spPr>
        <p:txBody>
          <a:bodyPr/>
          <a:lstStyle/>
          <a:p>
            <a:r>
              <a:rPr lang="en-IN" sz="3200" b="1" dirty="0"/>
              <a:t>Key findings from literature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DCDE21B-546C-42CA-8624-73ABF84344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41"/>
          <a:stretch/>
        </p:blipFill>
        <p:spPr bwMode="auto">
          <a:xfrm>
            <a:off x="210835" y="1472636"/>
            <a:ext cx="8721969" cy="440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7638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04CEC-94D7-ACE8-70D4-54A45F047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Shape 3">
            <a:extLst>
              <a:ext uri="{FF2B5EF4-FFF2-40B4-BE49-F238E27FC236}">
                <a16:creationId xmlns:a16="http://schemas.microsoft.com/office/drawing/2014/main" id="{15A4ED4B-0528-F8A4-726A-E02DABF3E621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85779E-8D27-3000-CE34-66D192007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015" y="0"/>
            <a:ext cx="5486040" cy="914040"/>
          </a:xfrm>
        </p:spPr>
        <p:txBody>
          <a:bodyPr/>
          <a:lstStyle/>
          <a:p>
            <a:r>
              <a:rPr lang="en-IN" sz="2400" b="1" dirty="0"/>
              <a:t>Sustainability and Future Directions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87F0BE7-7C64-45C7-9410-D344DA0FF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5" y="3541352"/>
            <a:ext cx="91408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1400" dirty="0">
              <a:latin typeface="Times New Roman"/>
              <a:cs typeface="Times New Roman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349B954-7863-4583-B91B-812EC45A5153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457200" y="3254753"/>
            <a:ext cx="7530353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C5D011-798D-42CB-BAD8-9C922909A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5" y="1367022"/>
            <a:ext cx="8809893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SDG 12.3: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Aligning with the UN target to halve retail and consumer food waste by 2030.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Explainable AI (XAI):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Focusing on making AI models more trustworthy and practical for human users.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Federated Learning: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Training models locally (in-home/in-kitchen) to protect data privacy.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Policy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Using ML insights to scale programs like India's "Save Food Share Food."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398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52C9A-E50C-4584-9DC7-4B10EB87D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807" y="-298940"/>
            <a:ext cx="5486040" cy="1512277"/>
          </a:xfrm>
        </p:spPr>
        <p:txBody>
          <a:bodyPr/>
          <a:lstStyle/>
          <a:p>
            <a:r>
              <a:rPr lang="en-IN" sz="2400" b="1" dirty="0"/>
              <a:t>Implications for sustainability &amp; Policy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97BB333-2D8E-4A7A-B6E2-665432C82F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15" b="-1019"/>
          <a:stretch/>
        </p:blipFill>
        <p:spPr bwMode="auto">
          <a:xfrm>
            <a:off x="219807" y="1352549"/>
            <a:ext cx="8267700" cy="390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4160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01C68-E931-431D-A623-B13AECDAB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69" y="254977"/>
            <a:ext cx="5486040" cy="914040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73ECEC7-3B8F-4CCD-B8DD-955C713A46C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149469" y="1297948"/>
            <a:ext cx="877472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effectively predicts demand and identifies spoilage patterns before waste occurs.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models can reduce overproduction by up to 10% or more when properly integrated with real-world data.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 depends on high-quality data and a synthesis of knowledge from diverse sources to improve system efficiency and environmental health. </a:t>
            </a:r>
          </a:p>
        </p:txBody>
      </p:sp>
    </p:spTree>
    <p:extLst>
      <p:ext uri="{BB962C8B-B14F-4D97-AF65-F5344CB8AC3E}">
        <p14:creationId xmlns:p14="http://schemas.microsoft.com/office/powerpoint/2010/main" val="3335865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www.w3.org/XML/1998/namespace"/>
    <ds:schemaRef ds:uri="http://purl.org/dc/elements/1.1/"/>
    <ds:schemaRef ds:uri="http://purl.org/dc/terms/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35659</TotalTime>
  <Words>641</Words>
  <Application>Microsoft Office PowerPoint</Application>
  <PresentationFormat>On-screen Show (4:3)</PresentationFormat>
  <Paragraphs>61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MS PGothic</vt:lpstr>
      <vt:lpstr>Arial</vt:lpstr>
      <vt:lpstr>Calibri</vt:lpstr>
      <vt:lpstr>DejaVu Sans</vt:lpstr>
      <vt:lpstr>Google Sans Text</vt:lpstr>
      <vt:lpstr>Times New Roman</vt:lpstr>
      <vt:lpstr>Office Theme</vt:lpstr>
      <vt:lpstr>PowerPoint Presentation</vt:lpstr>
      <vt:lpstr>PowerPoint Presentation</vt:lpstr>
      <vt:lpstr> The Problem</vt:lpstr>
      <vt:lpstr>Datasets and Features</vt:lpstr>
      <vt:lpstr>Methodology – Algorithm Selection</vt:lpstr>
      <vt:lpstr>Performance and Results</vt:lpstr>
      <vt:lpstr> Challenges and Limitations</vt:lpstr>
      <vt:lpstr>Key findings from literature</vt:lpstr>
      <vt:lpstr>Sustainability and Future Directions</vt:lpstr>
      <vt:lpstr>Implications for sustainability &amp; Policy</vt:lpstr>
      <vt:lpstr>Conclusion 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Vanshak Bhardwaj</cp:lastModifiedBy>
  <cp:revision>2454</cp:revision>
  <dcterms:created xsi:type="dcterms:W3CDTF">2010-04-09T07:36:15Z</dcterms:created>
  <dcterms:modified xsi:type="dcterms:W3CDTF">2026-05-17T14:52:46Z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